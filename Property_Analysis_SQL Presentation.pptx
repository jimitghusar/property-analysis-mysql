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27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040880" y="640080"/>
            <a:ext cx="173736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0" y="859536"/>
            <a:ext cx="1737360" cy="12801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173736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173736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60920" y="1508760"/>
            <a:ext cx="91440" cy="914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60920" y="1737360"/>
            <a:ext cx="91440" cy="914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60920" y="1965960"/>
            <a:ext cx="91440" cy="914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Reference Guide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4290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structured SQL queries covering data exploration,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aggregation, window functions &amp; CASE expressions.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 property  ·  Table: property_analysis  ·  MySQL 8.0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3558B-F9F5-5E2C-9F1C-F7D667D77861}"/>
              </a:ext>
            </a:extLst>
          </p:cNvPr>
          <p:cNvSpPr txBox="1"/>
          <p:nvPr/>
        </p:nvSpPr>
        <p:spPr>
          <a:xfrm>
            <a:off x="6938010" y="3078403"/>
            <a:ext cx="2125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Presented by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Jimit Ghusar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&amp; Table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database, table schema and loading CSV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201168" y="11887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MySQL environment: creates the database, defines the table schema with 5 columns, and loads property data from a CSV file using LOAD DATA INFILE.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2148840"/>
            <a:ext cx="8732520" cy="219456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8229600" y="2194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8321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property;  use property;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property_analysis(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datesold varchar(50),  postcode int,  price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propertytype varchar(10),  bedrooms 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DATA INFILE 'C:/.../Property_analysis.csv'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TABLE property_analysis  CHARACTER SET LATIN1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TERMINATED BY ','  ENCLOSED BY '"'  IGNORE 1 ROWS;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4462272"/>
            <a:ext cx="8732520" cy="420624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47472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LOAD DATA INFILE is MySQL's fast bulk-import command — much faster than INSERT for large CSV datasets.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ED1140-76D9-30DB-719A-39A4E5CEF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964" y="2164080"/>
            <a:ext cx="3781056" cy="2125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First 10 Sale Dates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Previewing date entries with LIMIT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only the datesold column for the first 10 rows. Useful for quickly checking the date format stored in the table before applying date functions.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datesold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LIMIT is essential for quick previews — always use it when exploring large tables to avoid fetching millions of rows.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E354FB-150F-A121-6B7D-CC876F0A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538" y="2136648"/>
            <a:ext cx="2172003" cy="2142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Distinct Property Types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unique values with DISTINCT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unique property types available in the dataset (e.g., 'house', 'unit'). Helps understand what categories exist before writing type-based filters.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propertyType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DISTINCT removes duplicate values — equivalent to GROUP BY without aggregation. Great for data profiling.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33B044-957F-E03E-8620-AE2BE23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37" y="2322576"/>
            <a:ext cx="2114845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Distinct Bedroom Counts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all unique bedroom values in sorted order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every unique bedroom count value, ordered numerically. This reveals the full range of bedroom configurations available in the dataset (e.g., 1, 2, 3, 4, 5+).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bedrooms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bedrooms;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Pairing DISTINCT with ORDER BY gives a clean sorted list — perfect for understanding the spread of a numeric category column.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D0901C-5944-B1A5-D640-B55C8ABDB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732" y="2148840"/>
            <a:ext cx="1648055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of 3-Bedroom Properties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AVG() with a WHERE filter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mean sale price specifically for properties with 3 bedrooms. This benchmark is valuable for pricing analysis and comparing against other bedroom configurations.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Average price for 3-bedroom properties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AVG(price)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bedrooms = 3;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AVG() automatically ignores NULL values. Always pair with COUNT(*) to know how many records contributed to the result.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0A0718-6F90-BDB1-BA24-362456735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90" y="2447849"/>
            <a:ext cx="1714739" cy="1086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with 3 Bedrooms Priced Over $500K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WHERE conditions with 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records matching three simultaneous conditions: property type is 'house', price exceeds $500,000, and bedroom count is exactly 3. This targets a specific premium market segment.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propertyType = 'house'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price &gt; 500000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bedrooms = 3;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Each AND condition narrows the result further. The order of conditions doesn't affect results — MySQL optimizes the execution plan automatically.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897DCE-A6D1-1A0E-BFD8-CE14417CC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140" y="2114758"/>
            <a:ext cx="3738022" cy="21764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Data Filtering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YEAR() function to extract year from date column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datesold is stored as a date/varchar, YEAR() extracts the year component for comparison. These queries isolate records from a specific year or count entries for trend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records from 2015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property_analysis WHERE YEAR(datesold) = 2015;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Count of sales in 2018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property_analysis WHERE YEAR(datesold) = 2018;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records after 2016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property_analysis WHERE YEAR(datesold) &gt; 2016;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YEAR() is a date function that works on DATE and DATETIME types. For text dates, ensure proper format or use STR_TO_DATE() first.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2A3091-1F54-3F23-E481-C0E0A09DE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108" y="2602161"/>
            <a:ext cx="1600423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Expensive Houses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 ORDER BY DESC + LIMIT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10 highest-priced house listings by sorting descending on price and limiting output. This is the classic SQL 'Top N' pattern used in leaderboards and market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propertyType = 'house'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Always include ORDER BY before LIMIT — without it, SQL returns an arbitrary 10 rows, not the top 10.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B663F1-4808-E87A-5614-F5ECF05E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79" y="2136648"/>
            <a:ext cx="4761975" cy="22069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Unit Property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minimum-priced record with ASC + LIMIT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single least expensive unit property by sorting price in ascending order and returning only the first row. Useful for identifying the market floor for a specific property type.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propertyType = 'unit'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ASC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LIMIT 1 with ORDER BY ASC is equivalent to MIN() but returns the full row — not just the price value.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45A9A6-CD10-D47C-8763-AEB46237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325" y="2782553"/>
            <a:ext cx="5944430" cy="11526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&amp; Maximum Property Price (Overall)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MIN() and MAX() aggregate functions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lowest and highest sale prices across the entire dataset in a single query. Essential for understanding the full price range before segmenting or filtering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MIN(price) AS minimum_price,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MAX(price) AS maximum_price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Aliasing columns with AS makes output self-documenting — especially important when results are exported to reports or dashboards.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B98FC8-950D-0809-8033-0D7489E5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463" y="2628642"/>
            <a:ext cx="3181794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&amp; Max Price by Property 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MIN() and MAX() per category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dataset by property type and calculates the price floor and ceiling for each category separately. Enables side-by-side comparison of price ranges across houses and units.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propertyType,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MIN(price) AS minimum_price,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MAX(price) AS maximum_price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propertyType;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non-aggregated column in SELECT must appear in GROUP BY — a fundamental SQL rule that prevents ambiguous grouping.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880675-63FB-7418-6952-CD7586F12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25" y="2847182"/>
            <a:ext cx="4258269" cy="10574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Sales by Property 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COUNT(*) for volume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how many properties of each type were sold. This query answers 'which property type is more common in the market?' — a key metric for supply/demand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propertyType, COUNT(*) AS total_count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propertyType;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COUNT(*) counts all rows including NULLs, while COUNT(column) skips NULLs. Use COUNT(*) when counting records, not values.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8A0D6-86A4-8AA4-14B5-453E4A4C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38" y="2751133"/>
            <a:ext cx="2896004" cy="9716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Total Sales Year-Wise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sales volume trends over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records by year and counts sales in each year. This reveals how market activity has changed over time — identifying boom years, slowdowns, or consistent growth patterns.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YEAR(datesold) AS sale_year,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total_sales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sale_year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sale_year;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ORDER BY sale_year ensures years appear in chronological order — without it, grouping output order is undefined in SQL.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41897B-B20E-A02A-CCD9-980839AA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343" y="2142447"/>
            <a:ext cx="1560157" cy="2189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Year-Wise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price appreciation trends over years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sale price grouped by year. This is one of the most important metrics in property analysis — revealing whether prices are rising, falling, or staying flat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YEAR(datesold) AS sale_year,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AVG(price) AS avg_price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sale_year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sale_year;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Combining this with the year-wise count (Q12) gives a richer picture — rising prices with falling volume signals a seller's market.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997DAB-1CEC-E0A0-B77B-8002CCAE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122386"/>
            <a:ext cx="1946159" cy="22351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Bedroom Configuration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top-selling bedroom count with ORDER BY + LIMIT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bedroom count has the highest number of sales. This reveals the most in-demand property size — critical for developers, investors and agents targeting high-demand segments.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bedrooms,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total_sales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bedrooms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total_sales DESC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Remove LIMIT 1 to see the full ranked list of all bedroom counts — useful for understanding the complete demand spectrum.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64F94E-CBA9-6CDF-42C9-0B927012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101" y="2646946"/>
            <a:ext cx="2524477" cy="7335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Property Price Year-Wise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annual price peaks with MAX()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single highest property price recorded in each year. This highlights premium market activity and reveals whether the top end of the market is growing or contracting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YEAR(datesold) AS sale_year,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MAX(price) AS highest_price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sale_year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sale_year;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Comparing MAX() trends vs AVG() trends reveals whether price growth is broad-based or driven only by outlier luxury sales.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532CBC-F53A-3086-0BE2-90D6AE28B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60" y="2092602"/>
            <a:ext cx="1727058" cy="22745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 Per Year × Property 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GROUP BY for cross-dimensional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simultaneously by year AND property type, returning the peak price for each combination. This 2D breakdown reveals whether houses or units are driving premium price growth each year.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YEAR(datesold) AS sale_year,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propertyType,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MAX(price) AS highest_price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sale_year, propertyType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sale_year, propertyType;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Multi-column GROUP BY creates a matrix-like output — great for comparing trends across two dimensions simultaneously.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0E15BA-BD1A-454E-2140-B0CB09044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020" y="2168465"/>
            <a:ext cx="2380557" cy="21370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for Each Property 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GROUP BY aggregation for market benchmarks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mean sale price for houses and units separately. This benchmark reveals the price premium between property types and is fundamental to any comparative market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propertytype,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AVG(price) AS average_price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propertytype;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ROUND(AVG(price), 2) to format the output to 2 decimal places — makes large numbers more readable in reports.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4F9F8E-C6EB-3F0E-FEFF-F308E4D3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948" y="2541270"/>
            <a:ext cx="2924583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Expensive Properties Per Postcode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ROW_NUMBER() with PARTITION BY postcode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subquery with ROW_NUMBER() partitioned by postcode to rank properties within each postcode zone by price. The outer query then filters only the top 3 from each zone.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propertytype, datesold, postcode, price, bedrooms,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(PARTITION BY postcode ORDER BY price DESC) AS top_3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property_analysis) AS ranked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top_3 &lt;= 3;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PARTITION BY resets the row counter for each postcode — this is the key difference between ROW_NUMBER() with and without partitioning.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FC6117-A780-A11D-356F-3BB34EAE4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077" y="2194560"/>
            <a:ext cx="3434843" cy="21390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Properties by Price (Global)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OVER ORDER BY for global price ranking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sequential rank to every property based on price (highest = rank 1) across the entire dataset. This provides a global leaderboard of all properties by sale 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propertyType,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 (ORDER BY price DESC) AS price_rank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ROW_NUMBER() always assigns unique ranks — no ties. Use RANK() if you want tied records to share the same rank number.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77BB0F-21F5-68B2-9899-4082457F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95" y="2140762"/>
            <a:ext cx="2376065" cy="21974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Highest Priced Houses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with PARTITION BY type filtered to houses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the dataset by property type, ranks by price within each partition, then filters to only return the top 3 house records. Isolates the most premium house sales from the full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ROW_NUMBER() OVER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(PARTITION BY propertyType ORDER BY price DESC) AS rn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property_analysis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propertyType = 'house'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rn &lt;= 3;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Window functions cannot be used in WHERE directly — always wrap them in a subquery or CTE to filter on the computed rank.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40909D-612B-DC44-492F-2DA82336E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741" y="3192780"/>
            <a:ext cx="4932647" cy="10866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Price Separately for House and Unit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ranking for type-level price leaderboards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separate price rankings for houses and units by using PARTITION BY propertyType. Each property type gets its own independent rank starting from 1 — enabling fair within-type comparison.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propertyType,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 (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PARTITION BY propertyType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BY price DESC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rank_in_type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PARTITION BY is the window function equivalent of GROUP BY — it defines the boundary within which the ranking resets.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334255-E661-6D4A-AFBF-20236A25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59" y="2119958"/>
            <a:ext cx="2533955" cy="218008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Properties Based on Price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expression for custom price tier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CASE statement to assign a human-readable price category label to each property: Low (&lt; $400K), Medium ($400K–$700K), or High (&gt; $700K). Enables quick market-tier segmentation.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price &lt; 400000 THEN 'Low Price'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price BETWEEN 400000 AND 700000 THEN 'Medium Price'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'High Price'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price_category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CASE WHEN is evaluated top-down — the first matching condition wins. Always put the most restrictive condition first.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9BB20D-63D4-3371-B229-A1F62B47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997" y="2152084"/>
            <a:ext cx="1684743" cy="21769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Bedroom Size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expression for bedroom configuration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raw bedroom counts to descriptive size labels: Small (≤ 2 beds), Medium (3 beds), Large (4+ beds). Simplifies bedroom data into business-friendly categories for reporting.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bedrooms,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bedrooms &lt;= 2 THEN 'Small'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bedrooms = 3 THEN 'Medium'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'Large'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bedroom_category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CASE can be used in SELECT, WHERE, ORDER BY and GROUP BY — making it one of SQL's most versatile expressions.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E8F20B-6DA8-3C25-47F6-9B353FEFD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704" y="2133657"/>
            <a:ext cx="2062376" cy="220372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Sales Year into Two Groups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with YEAR() for historical period labeling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every sale as either 'Before 2015' or 'After 2015' using a CASE expression on the year. This simplifies time-based segmentation for period-over-period comparison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datesold,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YEAR(datesold) &lt;= 2015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'Before 2015'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'After 2015'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year_category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Combining CASE with GROUP BY on the alias enables aggregation by these custom periods — e.g., COUNT(*) GROUP BY year_category.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AED735-92A8-CF19-D6E5-D4B54B59A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842" y="2156988"/>
            <a:ext cx="2335698" cy="21720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01168" y="1645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01168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 with Overall Average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6217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with a correlated subquery for above/below average tagging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8732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each property as 'Above Average' or 'Below Average' by comparing its price to the dataset-wide average, computed inline via a subquery. Identifies premium vs value properties instantly.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8732520" cy="2267712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price &gt; (SELECT AVG(price) FROM property_analysis)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'Above Average'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'Below Average'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price_comparison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property_analysis;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" y="4480560"/>
            <a:ext cx="8732520" cy="402336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subquery (SELECT AVG(price)...) runs once and returns a scalar value reused for every row comparison — this is efficient and clean.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2ABB38-8448-A96F-A9BD-F2A6B3BF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130" y="2134688"/>
            <a:ext cx="2050970" cy="22038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109728" y="5029200"/>
            <a:ext cx="9034272" cy="1143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SQL queries across 6 key technique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2743200" cy="1600200"/>
          </a:xfrm>
          <a:prstGeom prst="rect">
            <a:avLst/>
          </a:prstGeom>
          <a:solidFill>
            <a:srgbClr val="0E4D6D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56616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 Exploration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" y="1920240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56616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 · LIMIT · ORDER BY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115568"/>
            <a:ext cx="2743200" cy="1600200"/>
          </a:xfrm>
          <a:prstGeom prst="rect">
            <a:avLst/>
          </a:prstGeom>
          <a:solidFill>
            <a:srgbClr val="064E3B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3154680" y="1115568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3282696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Filtering &amp; Conditions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82696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Q4–Q6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82696" y="1920240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282696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· AND · YEAR() · AVG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115568"/>
            <a:ext cx="2743200" cy="1600200"/>
          </a:xfrm>
          <a:prstGeom prst="rect">
            <a:avLst/>
          </a:prstGeom>
          <a:solidFill>
            <a:srgbClr val="4A1D96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6080760" y="1115568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6208776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Sorting &amp; Ranking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08776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Q7–Q8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08776" y="1920240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208776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DESC/ASC · LIMIT 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71800"/>
            <a:ext cx="2743200" cy="1600200"/>
          </a:xfrm>
          <a:prstGeom prst="rect">
            <a:avLst/>
          </a:prstGeom>
          <a:solidFill>
            <a:srgbClr val="7C2D12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356616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Aggregation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6616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6616" y="3776472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356616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· MAX · AVG · COUNT · GROUP BY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2971800"/>
            <a:ext cx="274320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3154680" y="29718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3282696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 Functions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82696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Q18–Q21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82696" y="3776472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3282696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 · PARTITION BY · OVER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71800"/>
            <a:ext cx="2743200" cy="1600200"/>
          </a:xfrm>
          <a:prstGeom prst="rect">
            <a:avLst/>
          </a:prstGeom>
          <a:solidFill>
            <a:srgbClr val="3B1F2B"/>
          </a:solidFill>
          <a:ln/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Shape 36"/>
          <p:cNvSpPr/>
          <p:nvPr/>
        </p:nvSpPr>
        <p:spPr>
          <a:xfrm>
            <a:off x="6080760" y="29718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6208776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CASE Expressions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08776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Q22–Q25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08776" y="3776472"/>
            <a:ext cx="22860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6208776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 · THEN · ELSE · Subquery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property_analysis database  ·  MySQL 8.0  ·  raw_sales table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2871</Words>
  <Application>Microsoft Office PowerPoint</Application>
  <PresentationFormat>On-screen Show (16:9)</PresentationFormat>
  <Paragraphs>389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 Analysis SQL Queries</dc:title>
  <dc:subject>PptxGenJS Presentation</dc:subject>
  <dc:creator>PptxGenJS</dc:creator>
  <cp:lastModifiedBy>JIMIT GHUSAR</cp:lastModifiedBy>
  <cp:revision>28</cp:revision>
  <dcterms:created xsi:type="dcterms:W3CDTF">2026-03-28T10:17:55Z</dcterms:created>
  <dcterms:modified xsi:type="dcterms:W3CDTF">2026-03-29T07:49:43Z</dcterms:modified>
</cp:coreProperties>
</file>